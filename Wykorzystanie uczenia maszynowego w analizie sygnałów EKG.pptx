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6B2C9451-FEF0-4721-8623-56CAA6D9D58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D6348BC0-E5CC-4141-8F7C-D8C6B0EE90F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93997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C9451-FEF0-4721-8623-56CAA6D9D58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8BC0-E5CC-4141-8F7C-D8C6B0EE90F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86324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C9451-FEF0-4721-8623-56CAA6D9D58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8BC0-E5CC-4141-8F7C-D8C6B0EE90F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73652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C9451-FEF0-4721-8623-56CAA6D9D58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8BC0-E5CC-4141-8F7C-D8C6B0EE90F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9305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C9451-FEF0-4721-8623-56CAA6D9D58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8BC0-E5CC-4141-8F7C-D8C6B0EE90F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9069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C9451-FEF0-4721-8623-56CAA6D9D58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8BC0-E5CC-4141-8F7C-D8C6B0EE90F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6655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C9451-FEF0-4721-8623-56CAA6D9D58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8BC0-E5CC-4141-8F7C-D8C6B0EE90F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22108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C9451-FEF0-4721-8623-56CAA6D9D58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D6348BC0-E5CC-4141-8F7C-D8C6B0EE90F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41760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6B2C9451-FEF0-4721-8623-56CAA6D9D58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pl-PL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D6348BC0-E5CC-4141-8F7C-D8C6B0EE90F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908004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C9451-FEF0-4721-8623-56CAA6D9D58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8BC0-E5CC-4141-8F7C-D8C6B0EE90F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93971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C9451-FEF0-4721-8623-56CAA6D9D58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8BC0-E5CC-4141-8F7C-D8C6B0EE90F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78378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6B2C9451-FEF0-4721-8623-56CAA6D9D58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D6348BC0-E5CC-4141-8F7C-D8C6B0EE90F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1586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073179B-0C27-B590-1F28-5218796A5F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Wykorzystanie uczenia maszynowego w analizie sygnałów EKG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640B892-F9FE-A776-C915-8BAFB88CB7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l-PL" dirty="0"/>
              <a:t>Automatyczna klasyfikacja i raportowanie zaburzeń rytmu serca</a:t>
            </a:r>
          </a:p>
          <a:p>
            <a:endParaRPr lang="pl-PL" dirty="0"/>
          </a:p>
          <a:p>
            <a:r>
              <a:rPr lang="pl-PL" dirty="0"/>
              <a:t>Szymon Kubica</a:t>
            </a:r>
          </a:p>
          <a:p>
            <a:r>
              <a:rPr lang="pl-PL" dirty="0"/>
              <a:t>Julian </a:t>
            </a:r>
            <a:r>
              <a:rPr lang="pl-PL" dirty="0" err="1"/>
              <a:t>Siwirski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15459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C9A1B58-12DF-C631-9675-927E8895B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Cel główny: Stworzenie narzędzia wspomagającego kardiologów w szybkiej analizie zapisu EKG.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D5C4280-7B03-6562-3D9F-5A7EA9881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137" y="2411730"/>
            <a:ext cx="10753725" cy="3766185"/>
          </a:xfrm>
        </p:spPr>
        <p:txBody>
          <a:bodyPr/>
          <a:lstStyle/>
          <a:p>
            <a:r>
              <a:rPr lang="pl-PL" dirty="0"/>
              <a:t>Zadania systemu: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Przetwarzanie surowych danych z monitoringu serca,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Klasyfikacja typu uderzenia serca (normalne vs. patologiczne),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Generowanie czytelnego raportu dla pacjenta i lekarza.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367264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B199A9A-8E45-FBFC-4F00-6BA114CF9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800" dirty="0"/>
              <a:t>Zbiór Danych (MIT-BIH </a:t>
            </a:r>
            <a:r>
              <a:rPr lang="pl-PL" sz="4800" dirty="0" err="1"/>
              <a:t>Arrhythmia</a:t>
            </a:r>
            <a:r>
              <a:rPr lang="pl-PL" sz="4800" dirty="0"/>
              <a:t> Database)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B4A1922-0D3C-EC9D-523A-22CD43473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137" y="1797051"/>
            <a:ext cx="10753725" cy="12572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dirty="0"/>
              <a:t>Źródło: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48 ciągłych nagrań po 30min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Częstotliwość: 360 </a:t>
            </a:r>
            <a:r>
              <a:rPr lang="pl-PL" dirty="0" err="1"/>
              <a:t>Hz</a:t>
            </a:r>
            <a:endParaRPr lang="pl-PL" dirty="0"/>
          </a:p>
        </p:txBody>
      </p:sp>
      <p:sp>
        <p:nvSpPr>
          <p:cNvPr id="4" name="Symbol zastępczy zawartości 2">
            <a:extLst>
              <a:ext uri="{FF2B5EF4-FFF2-40B4-BE49-F238E27FC236}">
                <a16:creationId xmlns:a16="http://schemas.microsoft.com/office/drawing/2014/main" id="{C18F9DD5-625C-16FB-4F12-B9A207AA6175}"/>
              </a:ext>
            </a:extLst>
          </p:cNvPr>
          <p:cNvSpPr txBox="1">
            <a:spLocks/>
          </p:cNvSpPr>
          <p:nvPr/>
        </p:nvSpPr>
        <p:spPr>
          <a:xfrm>
            <a:off x="-74613" y="6610351"/>
            <a:ext cx="10753725" cy="247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000" dirty="0"/>
              <a:t>https://www.physionet.org/content/mitdb/1.0.0/</a:t>
            </a:r>
          </a:p>
        </p:txBody>
      </p:sp>
      <p:sp>
        <p:nvSpPr>
          <p:cNvPr id="5" name="Symbol zastępczy zawartości 2">
            <a:extLst>
              <a:ext uri="{FF2B5EF4-FFF2-40B4-BE49-F238E27FC236}">
                <a16:creationId xmlns:a16="http://schemas.microsoft.com/office/drawing/2014/main" id="{2BE06F71-9E5F-71D6-56D3-02D446579F72}"/>
              </a:ext>
            </a:extLst>
          </p:cNvPr>
          <p:cNvSpPr txBox="1">
            <a:spLocks/>
          </p:cNvSpPr>
          <p:nvPr/>
        </p:nvSpPr>
        <p:spPr>
          <a:xfrm>
            <a:off x="719137" y="3307082"/>
            <a:ext cx="10753725" cy="12572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pl-PL" dirty="0" err="1"/>
              <a:t>Preprocessing</a:t>
            </a:r>
            <a:r>
              <a:rPr lang="pl-PL" dirty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Pocięcie długich nagrań na pojedyncze uderzenia serca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Zmniejszenie częstotliwości do 125 </a:t>
            </a:r>
            <a:r>
              <a:rPr lang="pl-PL" dirty="0" err="1"/>
              <a:t>Hz</a:t>
            </a:r>
            <a:endParaRPr lang="pl-PL" dirty="0"/>
          </a:p>
        </p:txBody>
      </p:sp>
      <p:sp>
        <p:nvSpPr>
          <p:cNvPr id="6" name="Symbol zastępczy zawartości 2">
            <a:extLst>
              <a:ext uri="{FF2B5EF4-FFF2-40B4-BE49-F238E27FC236}">
                <a16:creationId xmlns:a16="http://schemas.microsoft.com/office/drawing/2014/main" id="{C9C7E6B1-524B-2F9A-7CEE-382A2DD2E5D6}"/>
              </a:ext>
            </a:extLst>
          </p:cNvPr>
          <p:cNvSpPr txBox="1">
            <a:spLocks/>
          </p:cNvSpPr>
          <p:nvPr/>
        </p:nvSpPr>
        <p:spPr>
          <a:xfrm>
            <a:off x="719136" y="4817113"/>
            <a:ext cx="10753725" cy="12572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pl-PL" dirty="0"/>
              <a:t>Wynik: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109 446 niezależnych próbek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Każda próbka to jedno uderzenie gotowe do klasyfikacji przez AI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610673EA-D7AA-B148-84EA-3DC783781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453" y="2559050"/>
            <a:ext cx="4096797" cy="302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423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4D57854-F9FA-63AF-30E5-49EABFE69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549" y="-363327"/>
            <a:ext cx="10772775" cy="1658198"/>
          </a:xfrm>
        </p:spPr>
        <p:txBody>
          <a:bodyPr/>
          <a:lstStyle/>
          <a:p>
            <a:r>
              <a:rPr lang="pl-PL" dirty="0"/>
              <a:t>Analiza sygnału</a:t>
            </a:r>
          </a:p>
        </p:txBody>
      </p:sp>
      <p:pic>
        <p:nvPicPr>
          <p:cNvPr id="13" name="Symbol zastępczy zawartości 12">
            <a:extLst>
              <a:ext uri="{FF2B5EF4-FFF2-40B4-BE49-F238E27FC236}">
                <a16:creationId xmlns:a16="http://schemas.microsoft.com/office/drawing/2014/main" id="{5E067A16-D6E4-303D-A7E5-657C00CE48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2276" y="2536825"/>
            <a:ext cx="6451223" cy="3767138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FB34858D-A1EE-32B5-1C86-DF6EFB5CC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20" y="990222"/>
            <a:ext cx="5346706" cy="5391853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3508163B-E260-6184-4D3B-D918D4F62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820" y="881040"/>
            <a:ext cx="3270750" cy="1909927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CF99F3F0-312A-75B0-D224-61B68C9DB1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2820" y="2949169"/>
            <a:ext cx="3270750" cy="1905291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554DA6E5-4612-889F-675F-3E337B110C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2820" y="4902997"/>
            <a:ext cx="3270750" cy="1909927"/>
          </a:xfrm>
          <a:prstGeom prst="rect">
            <a:avLst/>
          </a:prstGeom>
        </p:spPr>
      </p:pic>
      <p:pic>
        <p:nvPicPr>
          <p:cNvPr id="15" name="Obraz 14">
            <a:extLst>
              <a:ext uri="{FF2B5EF4-FFF2-40B4-BE49-F238E27FC236}">
                <a16:creationId xmlns:a16="http://schemas.microsoft.com/office/drawing/2014/main" id="{B3436940-C866-7E63-5B19-5678272CA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6936" y="1964627"/>
            <a:ext cx="2963981" cy="1730792"/>
          </a:xfrm>
          <a:prstGeom prst="rect">
            <a:avLst/>
          </a:prstGeom>
        </p:spPr>
      </p:pic>
      <p:pic>
        <p:nvPicPr>
          <p:cNvPr id="17" name="Obraz 16">
            <a:extLst>
              <a:ext uri="{FF2B5EF4-FFF2-40B4-BE49-F238E27FC236}">
                <a16:creationId xmlns:a16="http://schemas.microsoft.com/office/drawing/2014/main" id="{0CDA22DE-98DE-81E1-996D-BFC4ED9E48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6937" y="4035333"/>
            <a:ext cx="2963981" cy="173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872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66674E-B962-D3B8-1521-D179A8436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4" y="0"/>
            <a:ext cx="10772775" cy="1658198"/>
          </a:xfrm>
        </p:spPr>
        <p:txBody>
          <a:bodyPr/>
          <a:lstStyle/>
          <a:p>
            <a:r>
              <a:rPr lang="pl-PL" dirty="0" err="1"/>
              <a:t>Preprocessing</a:t>
            </a:r>
            <a:r>
              <a:rPr lang="pl-PL" dirty="0"/>
              <a:t> sygnału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7C54CEE-98B5-1900-F135-B9E97F66B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606" y="1275080"/>
            <a:ext cx="10753725" cy="376618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Surowy sygnał EKG jest zaszumiony wysokimi częstotliwościami (drżenie mięśni, zakłócenia z sieci).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Model AI mógłby skorelować szum z chorobą (</a:t>
            </a:r>
            <a:r>
              <a:rPr lang="pl-PL" dirty="0" err="1"/>
              <a:t>overfitting</a:t>
            </a:r>
            <a:r>
              <a:rPr lang="pl-PL" dirty="0"/>
              <a:t>), zamiast uczyć się kształtu załamków P, QRS, 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Zastosowanie filtru dolnoprzepustowego (</a:t>
            </a:r>
            <a:r>
              <a:rPr lang="pl-PL" dirty="0" err="1"/>
              <a:t>Low</a:t>
            </a:r>
            <a:r>
              <a:rPr lang="pl-PL" dirty="0"/>
              <a:t>-pass </a:t>
            </a:r>
            <a:r>
              <a:rPr lang="pl-PL" dirty="0" err="1"/>
              <a:t>filter</a:t>
            </a:r>
            <a:r>
              <a:rPr lang="pl-PL" dirty="0"/>
              <a:t>) opartego na krzywej Gaussa.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7181FEE2-499B-2410-38A2-22B0DFC82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73" y="3429000"/>
            <a:ext cx="639127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467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F185096-7700-7A8E-C37A-F87342E43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64" y="416256"/>
            <a:ext cx="5353323" cy="1658198"/>
          </a:xfrm>
        </p:spPr>
        <p:txBody>
          <a:bodyPr/>
          <a:lstStyle/>
          <a:p>
            <a:r>
              <a:rPr lang="pl-PL" dirty="0" err="1"/>
              <a:t>Preprocessing</a:t>
            </a:r>
            <a:r>
              <a:rPr lang="pl-PL" dirty="0"/>
              <a:t> sygnału 2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952D613-0650-5E30-6278-29E1DD65B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64" y="2074454"/>
            <a:ext cx="5353323" cy="376618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Dostarczenie modelowi pełnego kontekstu fizycznego uderzenia serca.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Dodano prędkość i przyśpieszenie zmian napięcia (pozwala odróżnić ostry pik od po prostu wysokiej stałej wartości)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Rozmazanie piku w czasie (nie ważne czy był w danej ms, ważne że był w jakimś oknie czasowym)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Zmniejszenie liczby próbek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E077278A-C867-9B9D-EC06-601BD3B8B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373" y="0"/>
            <a:ext cx="68005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404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6DB277-75AE-80A4-C4BD-8D60649CF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85" y="75063"/>
            <a:ext cx="10772775" cy="1658198"/>
          </a:xfrm>
        </p:spPr>
        <p:txBody>
          <a:bodyPr/>
          <a:lstStyle/>
          <a:p>
            <a:r>
              <a:rPr lang="pl-PL" dirty="0"/>
              <a:t>Regresja logistyczna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ABD8524-018C-4A7A-F9BF-E04DAF974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3" y="1452123"/>
            <a:ext cx="10753725" cy="1850636"/>
          </a:xfrm>
        </p:spPr>
        <p:txBody>
          <a:bodyPr/>
          <a:lstStyle/>
          <a:p>
            <a:r>
              <a:rPr lang="pl-PL" dirty="0"/>
              <a:t>Strategia </a:t>
            </a:r>
            <a:r>
              <a:rPr lang="pl-PL" dirty="0" err="1"/>
              <a:t>OvR</a:t>
            </a:r>
            <a:r>
              <a:rPr lang="pl-PL" dirty="0"/>
              <a:t> (One-vs-Rest)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Nie budujemy jednego dużego modelu, ale tyle modeli ile mamy klas chorób,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Każdy model wie jak rozpoznawać swoją chorobę,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Zwycięża ten który zwróci najwyższe prawdopodobieństwo</a:t>
            </a:r>
          </a:p>
        </p:txBody>
      </p:sp>
      <p:sp>
        <p:nvSpPr>
          <p:cNvPr id="4" name="Symbol zastępczy zawartości 2">
            <a:extLst>
              <a:ext uri="{FF2B5EF4-FFF2-40B4-BE49-F238E27FC236}">
                <a16:creationId xmlns:a16="http://schemas.microsoft.com/office/drawing/2014/main" id="{331DCF0D-84A7-9C38-8D62-4D60F53C1CC2}"/>
              </a:ext>
            </a:extLst>
          </p:cNvPr>
          <p:cNvSpPr txBox="1">
            <a:spLocks/>
          </p:cNvSpPr>
          <p:nvPr/>
        </p:nvSpPr>
        <p:spPr>
          <a:xfrm>
            <a:off x="657223" y="3555242"/>
            <a:ext cx="10753725" cy="9953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Metoda Newtona (Newton-CG)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Wykorzystujemy informację o tym, jak szybko zmienia się nachylenie</a:t>
            </a:r>
          </a:p>
        </p:txBody>
      </p:sp>
      <p:sp>
        <p:nvSpPr>
          <p:cNvPr id="5" name="Symbol zastępczy zawartości 2">
            <a:extLst>
              <a:ext uri="{FF2B5EF4-FFF2-40B4-BE49-F238E27FC236}">
                <a16:creationId xmlns:a16="http://schemas.microsoft.com/office/drawing/2014/main" id="{F608E155-E0E7-4C35-D5B1-7DEA8CF275F7}"/>
              </a:ext>
            </a:extLst>
          </p:cNvPr>
          <p:cNvSpPr txBox="1">
            <a:spLocks/>
          </p:cNvSpPr>
          <p:nvPr/>
        </p:nvSpPr>
        <p:spPr>
          <a:xfrm>
            <a:off x="657222" y="4803102"/>
            <a:ext cx="10753725" cy="15149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Dlaczego ten wybór?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Brak czasu i umiejętności na </a:t>
            </a:r>
            <a:r>
              <a:rPr lang="pl-PL" dirty="0" err="1"/>
              <a:t>Deep</a:t>
            </a:r>
            <a:r>
              <a:rPr lang="pl-PL" dirty="0"/>
              <a:t> Learning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Regresja logistyczna z metodą Newtona działa precyzyjnie pod analizę pików</a:t>
            </a:r>
          </a:p>
        </p:txBody>
      </p:sp>
    </p:spTree>
    <p:extLst>
      <p:ext uri="{BB962C8B-B14F-4D97-AF65-F5344CB8AC3E}">
        <p14:creationId xmlns:p14="http://schemas.microsoft.com/office/powerpoint/2010/main" val="518576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C4EF8E8-F69C-85D6-E862-E0349F149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772775" cy="1658198"/>
          </a:xfrm>
        </p:spPr>
        <p:txBody>
          <a:bodyPr/>
          <a:lstStyle/>
          <a:p>
            <a:r>
              <a:rPr lang="pl-PL" dirty="0"/>
              <a:t>Ewaluacja i metryki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371FC2A9-7600-3C6A-D795-B073795863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09314" y="830832"/>
            <a:ext cx="6245396" cy="5474434"/>
          </a:xfrm>
          <a:prstGeom prst="rect">
            <a:avLst/>
          </a:prstGeom>
        </p:spPr>
      </p:pic>
      <p:sp>
        <p:nvSpPr>
          <p:cNvPr id="6" name="Symbol zastępczy zawartości 2">
            <a:extLst>
              <a:ext uri="{FF2B5EF4-FFF2-40B4-BE49-F238E27FC236}">
                <a16:creationId xmlns:a16="http://schemas.microsoft.com/office/drawing/2014/main" id="{4C1EB9A4-C106-A01F-8B39-1C9DD247857E}"/>
              </a:ext>
            </a:extLst>
          </p:cNvPr>
          <p:cNvSpPr txBox="1">
            <a:spLocks/>
          </p:cNvSpPr>
          <p:nvPr/>
        </p:nvSpPr>
        <p:spPr>
          <a:xfrm>
            <a:off x="177996" y="1446657"/>
            <a:ext cx="5353323" cy="5220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Dobra dokładność: w 9 na 10 przypadków model dobrze diagnozuje uderzenie serca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Średnia precyzja: trochę </a:t>
            </a:r>
            <a:r>
              <a:rPr lang="pl-PL" dirty="0" err="1"/>
              <a:t>przewraźliwiony</a:t>
            </a:r>
            <a:endParaRPr lang="pl-PL" dirty="0"/>
          </a:p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Dobra czułość: wykrywa 80% wszystkich arytmii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/>
              <a:t>F1-Score: balans modelu</a:t>
            </a:r>
          </a:p>
        </p:txBody>
      </p:sp>
    </p:spTree>
    <p:extLst>
      <p:ext uri="{BB962C8B-B14F-4D97-AF65-F5344CB8AC3E}">
        <p14:creationId xmlns:p14="http://schemas.microsoft.com/office/powerpoint/2010/main" val="3090349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1A240A0-133B-3DD9-75A5-0F8E296B7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4A7A856-6C1D-7B49-15F4-A348DA3A7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63774106"/>
      </p:ext>
    </p:extLst>
  </p:cSld>
  <p:clrMapOvr>
    <a:masterClrMapping/>
  </p:clrMapOvr>
</p:sld>
</file>

<file path=ppt/theme/theme1.xml><?xml version="1.0" encoding="utf-8"?>
<a:theme xmlns:a="http://schemas.openxmlformats.org/drawingml/2006/main" name="Wielkomiejski">
  <a:themeElements>
    <a:clrScheme name="Wielkomiejski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Wielkomiejski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Wielkomiejsk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TM03457491[[fn=Wielkomiejski]]</Template>
  <TotalTime>101</TotalTime>
  <Words>330</Words>
  <Application>Microsoft Office PowerPoint</Application>
  <PresentationFormat>Panoramiczny</PresentationFormat>
  <Paragraphs>46</Paragraphs>
  <Slides>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3" baseType="lpstr">
      <vt:lpstr>Arial</vt:lpstr>
      <vt:lpstr>Calibri Light</vt:lpstr>
      <vt:lpstr>Wingdings</vt:lpstr>
      <vt:lpstr>Wielkomiejski</vt:lpstr>
      <vt:lpstr>Wykorzystanie uczenia maszynowego w analizie sygnałów EKG</vt:lpstr>
      <vt:lpstr>Cel główny: Stworzenie narzędzia wspomagającego kardiologów w szybkiej analizie zapisu EKG.</vt:lpstr>
      <vt:lpstr>Zbiór Danych (MIT-BIH Arrhythmia Database)</vt:lpstr>
      <vt:lpstr>Analiza sygnału</vt:lpstr>
      <vt:lpstr>Preprocessing sygnału</vt:lpstr>
      <vt:lpstr>Preprocessing sygnału 2</vt:lpstr>
      <vt:lpstr>Regresja logistyczna</vt:lpstr>
      <vt:lpstr>Ewaluacja i metryki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Szymon Kubica</dc:creator>
  <cp:lastModifiedBy>Szymon Kubica</cp:lastModifiedBy>
  <cp:revision>1</cp:revision>
  <dcterms:created xsi:type="dcterms:W3CDTF">2025-11-30T15:28:49Z</dcterms:created>
  <dcterms:modified xsi:type="dcterms:W3CDTF">2025-11-30T17:09:57Z</dcterms:modified>
</cp:coreProperties>
</file>